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54" r:id="rId2"/>
  </p:sldMasterIdLst>
  <p:notesMasterIdLst>
    <p:notesMasterId r:id="rId15"/>
  </p:notesMasterIdLst>
  <p:sldIdLst>
    <p:sldId id="256" r:id="rId3"/>
    <p:sldId id="257" r:id="rId4"/>
    <p:sldId id="258" r:id="rId5"/>
    <p:sldId id="259" r:id="rId6"/>
    <p:sldId id="260" r:id="rId7"/>
    <p:sldId id="261" r:id="rId8"/>
    <p:sldId id="262" r:id="rId9"/>
    <p:sldId id="267" r:id="rId10"/>
    <p:sldId id="263" r:id="rId11"/>
    <p:sldId id="264" r:id="rId12"/>
    <p:sldId id="265" r:id="rId13"/>
    <p:sldId id="266" r:id="rId14"/>
  </p:sldIdLst>
  <p:sldSz cx="12192000" cy="6858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p15:clr>
            <a:srgbClr val="A4A3A4"/>
          </p15:clr>
        </p15:guide>
        <p15:guide id="2" pos="312">
          <p15:clr>
            <a:srgbClr val="A4A3A4"/>
          </p15:clr>
        </p15:guide>
        <p15:guide id="3" orient="horz" pos="91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1" d="100"/>
          <a:sy n="71" d="100"/>
        </p:scale>
        <p:origin x="456" y="96"/>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eetha Ch" userId="15dc1b807d19a34d" providerId="LiveId" clId="{78042557-0F65-4756-B41D-B1215F46FC43}"/>
    <pc:docChg chg="undo custSel addSld modSld">
      <pc:chgData name="Vineetha Ch" userId="15dc1b807d19a34d" providerId="LiveId" clId="{78042557-0F65-4756-B41D-B1215F46FC43}" dt="2026-03-10T04:03:15.462" v="1273" actId="1076"/>
      <pc:docMkLst>
        <pc:docMk/>
      </pc:docMkLst>
      <pc:sldChg chg="addSp delSp modSp mod">
        <pc:chgData name="Vineetha Ch" userId="15dc1b807d19a34d" providerId="LiveId" clId="{78042557-0F65-4756-B41D-B1215F46FC43}" dt="2026-03-10T03:35:28.918" v="276" actId="2711"/>
        <pc:sldMkLst>
          <pc:docMk/>
          <pc:sldMk cId="0" sldId="264"/>
        </pc:sldMkLst>
        <pc:spChg chg="mod">
          <ac:chgData name="Vineetha Ch" userId="15dc1b807d19a34d" providerId="LiveId" clId="{78042557-0F65-4756-B41D-B1215F46FC43}" dt="2026-03-10T03:35:28.918" v="276" actId="2711"/>
          <ac:spMkLst>
            <pc:docMk/>
            <pc:sldMk cId="0" sldId="264"/>
            <ac:spMk id="3" creationId="{00000000-0000-0000-0000-000000000000}"/>
          </ac:spMkLst>
        </pc:spChg>
        <pc:spChg chg="add del mod">
          <ac:chgData name="Vineetha Ch" userId="15dc1b807d19a34d" providerId="LiveId" clId="{78042557-0F65-4756-B41D-B1215F46FC43}" dt="2026-03-10T03:34:22.483" v="273"/>
          <ac:spMkLst>
            <pc:docMk/>
            <pc:sldMk cId="0" sldId="264"/>
            <ac:spMk id="4" creationId="{12D4DF79-21D5-5E8D-53FD-E649F191BC19}"/>
          </ac:spMkLst>
        </pc:spChg>
      </pc:sldChg>
      <pc:sldChg chg="addSp modSp mod">
        <pc:chgData name="Vineetha Ch" userId="15dc1b807d19a34d" providerId="LiveId" clId="{78042557-0F65-4756-B41D-B1215F46FC43}" dt="2026-03-10T03:58:41.528" v="1240" actId="12"/>
        <pc:sldMkLst>
          <pc:docMk/>
          <pc:sldMk cId="0" sldId="265"/>
        </pc:sldMkLst>
        <pc:spChg chg="mod">
          <ac:chgData name="Vineetha Ch" userId="15dc1b807d19a34d" providerId="LiveId" clId="{78042557-0F65-4756-B41D-B1215F46FC43}" dt="2026-03-10T03:58:41.528" v="1240" actId="12"/>
          <ac:spMkLst>
            <pc:docMk/>
            <pc:sldMk cId="0" sldId="265"/>
            <ac:spMk id="3" creationId="{00000000-0000-0000-0000-000000000000}"/>
          </ac:spMkLst>
        </pc:spChg>
        <pc:spChg chg="add">
          <ac:chgData name="Vineetha Ch" userId="15dc1b807d19a34d" providerId="LiveId" clId="{78042557-0F65-4756-B41D-B1215F46FC43}" dt="2026-03-10T03:39:06.844" v="278"/>
          <ac:spMkLst>
            <pc:docMk/>
            <pc:sldMk cId="0" sldId="265"/>
            <ac:spMk id="4" creationId="{530F18A7-70B9-C401-C9CE-73135BFC53FA}"/>
          </ac:spMkLst>
        </pc:spChg>
        <pc:spChg chg="add">
          <ac:chgData name="Vineetha Ch" userId="15dc1b807d19a34d" providerId="LiveId" clId="{78042557-0F65-4756-B41D-B1215F46FC43}" dt="2026-03-10T03:39:42.161" v="279"/>
          <ac:spMkLst>
            <pc:docMk/>
            <pc:sldMk cId="0" sldId="265"/>
            <ac:spMk id="5" creationId="{E2CED347-4878-BBF6-ED9C-24F0802E4FC5}"/>
          </ac:spMkLst>
        </pc:spChg>
        <pc:spChg chg="add mod">
          <ac:chgData name="Vineetha Ch" userId="15dc1b807d19a34d" providerId="LiveId" clId="{78042557-0F65-4756-B41D-B1215F46FC43}" dt="2026-03-10T03:54:06.170" v="338" actId="20577"/>
          <ac:spMkLst>
            <pc:docMk/>
            <pc:sldMk cId="0" sldId="265"/>
            <ac:spMk id="6" creationId="{51C66939-0C47-E416-EA5C-CE7DC86E5979}"/>
          </ac:spMkLst>
        </pc:spChg>
      </pc:sldChg>
      <pc:sldChg chg="addSp delSp modSp new mod">
        <pc:chgData name="Vineetha Ch" userId="15dc1b807d19a34d" providerId="LiveId" clId="{78042557-0F65-4756-B41D-B1215F46FC43}" dt="2026-03-10T04:03:15.462" v="1273" actId="1076"/>
        <pc:sldMkLst>
          <pc:docMk/>
          <pc:sldMk cId="3534554612" sldId="267"/>
        </pc:sldMkLst>
        <pc:spChg chg="del mod">
          <ac:chgData name="Vineetha Ch" userId="15dc1b807d19a34d" providerId="LiveId" clId="{78042557-0F65-4756-B41D-B1215F46FC43}" dt="2026-03-10T04:00:19.714" v="1248" actId="931"/>
          <ac:spMkLst>
            <pc:docMk/>
            <pc:sldMk cId="3534554612" sldId="267"/>
            <ac:spMk id="3" creationId="{9F1B37EE-0C11-CEC1-2EAA-BE7409C2DD36}"/>
          </ac:spMkLst>
        </pc:spChg>
        <pc:spChg chg="add mod">
          <ac:chgData name="Vineetha Ch" userId="15dc1b807d19a34d" providerId="LiveId" clId="{78042557-0F65-4756-B41D-B1215F46FC43}" dt="2026-03-10T04:02:33.052" v="1263" actId="14100"/>
          <ac:spMkLst>
            <pc:docMk/>
            <pc:sldMk cId="3534554612" sldId="267"/>
            <ac:spMk id="6" creationId="{88ECC184-AC87-C000-2D88-3A052FCD429A}"/>
          </ac:spMkLst>
        </pc:spChg>
        <pc:picChg chg="add mod">
          <ac:chgData name="Vineetha Ch" userId="15dc1b807d19a34d" providerId="LiveId" clId="{78042557-0F65-4756-B41D-B1215F46FC43}" dt="2026-03-10T04:00:19.714" v="1248" actId="931"/>
          <ac:picMkLst>
            <pc:docMk/>
            <pc:sldMk cId="3534554612" sldId="267"/>
            <ac:picMk id="5" creationId="{7591C813-40FC-FFAA-3454-399E3EC68736}"/>
          </ac:picMkLst>
        </pc:picChg>
        <pc:picChg chg="add mod">
          <ac:chgData name="Vineetha Ch" userId="15dc1b807d19a34d" providerId="LiveId" clId="{78042557-0F65-4756-B41D-B1215F46FC43}" dt="2026-03-10T04:03:10.694" v="1272" actId="14100"/>
          <ac:picMkLst>
            <pc:docMk/>
            <pc:sldMk cId="3534554612" sldId="267"/>
            <ac:picMk id="8" creationId="{5928FC3F-8AB9-1F99-A826-FBE78BD4CA1A}"/>
          </ac:picMkLst>
        </pc:picChg>
        <pc:picChg chg="add mod">
          <ac:chgData name="Vineetha Ch" userId="15dc1b807d19a34d" providerId="LiveId" clId="{78042557-0F65-4756-B41D-B1215F46FC43}" dt="2026-03-10T04:03:15.462" v="1273" actId="1076"/>
          <ac:picMkLst>
            <pc:docMk/>
            <pc:sldMk cId="3534554612" sldId="267"/>
            <ac:picMk id="10" creationId="{D11EFEE2-CEEA-76AE-40D7-B5952A5C7EC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10-03-2026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cs typeface="Calibri" panose="020F0502020204030204"/>
            </a:endParaRPr>
          </a:p>
        </p:txBody>
      </p:sp>
      <p:sp>
        <p:nvSpPr>
          <p:cNvPr id="4" name="Slide Number Placeholder 3"/>
          <p:cNvSpPr>
            <a:spLocks noGrp="1"/>
          </p:cNvSpPr>
          <p:nvPr>
            <p:ph type="sldNum" sz="quarter" idx="5"/>
          </p:nvPr>
        </p:nvSpPr>
        <p:spPr/>
        <p:txBody>
          <a:bodyPr/>
          <a:lstStyle/>
          <a:p>
            <a:fld id="{F3065E4E-ABE4-4C79-8716-B93932D5FBD3}" type="slidenum">
              <a:rPr lang="en-IN" smtClean="0"/>
              <a:t>12</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B3FA99E-0146-4BD9-9E30-4EB71F3A4207}" type="datetimeFigureOut">
              <a:rPr lang="en-IN" smtClean="0"/>
              <a:t>10-03-2026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81918-31C6-44C6-A382-2FA557A3F6B9}"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3/10/2026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10/03/2026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7.xml"/><Relationship Id="rId7" Type="http://schemas.openxmlformats.org/officeDocument/2006/relationships/tags" Target="../tags/tag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5"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p:cNvSpPr>
            <a:spLocks noGrp="1"/>
          </p:cNvSpPr>
          <p:nvPr/>
        </p:nvSpPr>
        <p:spPr>
          <a:xfrm>
            <a:off x="517379" y="1343054"/>
            <a:ext cx="4746772" cy="250676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US" sz="5100" b="1" cap="all" dirty="0">
                <a:latin typeface="Aptos"/>
              </a:rPr>
              <a:t>PROJECT TITLE</a:t>
            </a:r>
            <a:endParaRPr lang="en-US" sz="5100" dirty="0">
              <a:latin typeface="Aptos"/>
            </a:endParaRPr>
          </a:p>
          <a:p>
            <a:pPr algn="l"/>
            <a:endParaRPr lang="en-US" sz="5100" b="1" kern="1200" dirty="0"/>
          </a:p>
        </p:txBody>
      </p:sp>
      <p:sp>
        <p:nvSpPr>
          <p:cNvPr id="5" name="Subtitle 2"/>
          <p:cNvSpPr>
            <a:spLocks noGrp="1"/>
          </p:cNvSpPr>
          <p:nvPr/>
        </p:nvSpPr>
        <p:spPr>
          <a:xfrm>
            <a:off x="594127" y="3739888"/>
            <a:ext cx="4166512" cy="2738211"/>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CHALAMALA SETTI VINEETHA</a:t>
            </a:r>
          </a:p>
          <a:p>
            <a:pPr algn="l">
              <a:spcAft>
                <a:spcPts val="600"/>
              </a:spcAft>
            </a:pPr>
            <a:r>
              <a:rPr lang="en-US" sz="1600" b="1" cap="all" dirty="0"/>
              <a:t>College Name : Vignan’s Institute of engineering for women’s</a:t>
            </a:r>
          </a:p>
          <a:p>
            <a:pPr algn="l">
              <a:spcAft>
                <a:spcPts val="600"/>
              </a:spcAft>
            </a:pPr>
            <a:r>
              <a:rPr lang="en-US" sz="1600" b="1" cap="all" dirty="0"/>
              <a:t>Department : Computer Science and engineering</a:t>
            </a:r>
          </a:p>
          <a:p>
            <a:pPr algn="l">
              <a:spcAft>
                <a:spcPts val="600"/>
              </a:spcAft>
            </a:pPr>
            <a:r>
              <a:rPr lang="en-US" sz="1600" b="1" cap="all" dirty="0"/>
              <a:t>Email ID: </a:t>
            </a:r>
            <a:r>
              <a:rPr lang="en-US" sz="1600" b="1" u="sng" cap="all" dirty="0"/>
              <a:t>chvineetha2005@gmail.com</a:t>
            </a:r>
            <a:endParaRPr lang="en-US" sz="1600" u="sng" cap="all" dirty="0"/>
          </a:p>
        </p:txBody>
      </p:sp>
      <p:sp>
        <p:nvSpPr>
          <p:cNvPr id="8" name="Rectangle 7"/>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Picture 6">
            <a:extLst>
              <a:ext uri="{FF2B5EF4-FFF2-40B4-BE49-F238E27FC236}">
                <a16:creationId xmlns:a16="http://schemas.microsoft.com/office/drawing/2014/main" id="{2A09C997-F598-F4E4-FBCB-8A7E7B0ED200}"/>
              </a:ext>
            </a:extLst>
          </p:cNvPr>
          <p:cNvPicPr>
            <a:picLocks noChangeAspect="1"/>
          </p:cNvPicPr>
          <p:nvPr/>
        </p:nvPicPr>
        <p:blipFill>
          <a:blip r:embed="rId5"/>
          <a:stretch>
            <a:fillRect/>
          </a:stretch>
        </p:blipFill>
        <p:spPr>
          <a:xfrm>
            <a:off x="6118937" y="671209"/>
            <a:ext cx="4652099" cy="5514946"/>
          </a:xfrm>
          <a:prstGeom prst="rect">
            <a:avLst/>
          </a:prstGeom>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panose="020B0604020202020204"/>
                <a:cs typeface="Arial" panose="020B0604020202020204"/>
              </a:rPr>
              <a:t>OUTLINE:</a:t>
            </a:r>
            <a:endParaRPr lang="en-US" sz="5400" dirty="0"/>
          </a:p>
        </p:txBody>
      </p:sp>
      <p:sp>
        <p:nvSpPr>
          <p:cNvPr id="3" name="Content Placeholder 2"/>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panose="020B0604020202020204"/>
                <a:cs typeface="Arial" panose="020B0604020202020204"/>
              </a:rPr>
              <a:t>Problem Statement </a:t>
            </a:r>
            <a:r>
              <a:rPr lang="en-US" sz="2200" dirty="0">
                <a:latin typeface="Arial" panose="020B0604020202020204"/>
                <a:cs typeface="Arial" panose="020B0604020202020204"/>
              </a:rPr>
              <a:t>(Should not include solution)</a:t>
            </a:r>
          </a:p>
          <a:p>
            <a:pPr marL="305435" indent="-305435">
              <a:spcBef>
                <a:spcPct val="20000"/>
              </a:spcBef>
              <a:spcAft>
                <a:spcPts val="600"/>
              </a:spcAft>
            </a:pPr>
            <a:r>
              <a:rPr lang="en-US" sz="2200" b="1" dirty="0">
                <a:latin typeface="Arial" panose="020B0604020202020204"/>
                <a:cs typeface="Arial" panose="020B0604020202020204"/>
              </a:rPr>
              <a:t>Proposed System/Solution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System Development Approach </a:t>
            </a:r>
            <a:r>
              <a:rPr lang="en-US" sz="2200" dirty="0">
                <a:latin typeface="Arial" panose="020B0604020202020204"/>
                <a:cs typeface="Arial" panose="020B0604020202020204"/>
              </a:rPr>
              <a:t>(Technology Used) </a:t>
            </a:r>
          </a:p>
          <a:p>
            <a:pPr marL="305435" indent="-305435">
              <a:spcBef>
                <a:spcPct val="20000"/>
              </a:spcBef>
              <a:spcAft>
                <a:spcPts val="600"/>
              </a:spcAft>
            </a:pPr>
            <a:r>
              <a:rPr lang="en-US" sz="2200" b="1" dirty="0">
                <a:latin typeface="Arial" panose="020B0604020202020204"/>
                <a:cs typeface="Arial" panose="020B0604020202020204"/>
              </a:rPr>
              <a:t>Algorithm &amp; Deployment  </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Result (Output Image)</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Conclusion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Future Scope</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References</a:t>
            </a:r>
            <a:endParaRPr lang="en-US" sz="2200" dirty="0">
              <a:latin typeface="Arial" panose="020B0604020202020204"/>
              <a:cs typeface="Arial" panose="020B0604020202020204"/>
            </a:endParaRPr>
          </a:p>
          <a:p>
            <a:endParaRPr lang="en-GB" sz="2200" dirty="0">
              <a:latin typeface="Aptos"/>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dirty="0">
                <a:latin typeface="Arial" panose="020B0604020202020204"/>
                <a:cs typeface="Arial" panose="020B0604020202020204"/>
              </a:rPr>
              <a:t>Problem Statement:</a:t>
            </a:r>
            <a:endParaRPr lang="en-US" sz="4000" dirty="0"/>
          </a:p>
        </p:txBody>
      </p:sp>
      <p:sp>
        <p:nvSpPr>
          <p:cNvPr id="3" name="Content Placeholder 2"/>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US" sz="2000" dirty="0"/>
              <a:t>E-commerce businesses generate large volumes of transactional data related to sales, customers, products, and shipping activities. However, analyzing this data to understand customer purchasing behavior, regional sales performance, and product profitability is often difficult. Businesses also face challenges in identifying how factors such as discounts and shipping costs influence profit and overall performance. Without clear analysis, it becomes difficult for organizations to identify trends, evaluate product demand, and make informed business decisions.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Proposed Solution:</a:t>
            </a:r>
            <a:endParaRPr lang="en-US" sz="4000" dirty="0"/>
          </a:p>
        </p:txBody>
      </p:sp>
      <p:sp>
        <p:nvSpPr>
          <p:cNvPr id="3" name="Content Placeholder 2"/>
          <p:cNvSpPr>
            <a:spLocks noGrp="1"/>
          </p:cNvSpPr>
          <p:nvPr>
            <p:ph idx="1"/>
          </p:nvPr>
        </p:nvSpPr>
        <p:spPr>
          <a:xfrm>
            <a:off x="219075" y="1304306"/>
            <a:ext cx="10515600" cy="4251960"/>
          </a:xfrm>
        </p:spPr>
        <p:txBody>
          <a:bodyPr vert="horz" lIns="91440" tIns="45720" rIns="91440" bIns="45720" rtlCol="0" anchor="t">
            <a:noAutofit/>
          </a:bodyPr>
          <a:lstStyle/>
          <a:p>
            <a:pPr>
              <a:buNone/>
            </a:pPr>
            <a:endParaRPr lang="en-US" sz="1600" b="1" dirty="0"/>
          </a:p>
          <a:p>
            <a:pPr>
              <a:buFont typeface="Arial" panose="020B0604020202020204" pitchFamily="34" charset="0"/>
              <a:buChar char="•"/>
            </a:pPr>
            <a:r>
              <a:rPr lang="en-US" sz="2000" dirty="0"/>
              <a:t>Develop an </a:t>
            </a:r>
            <a:r>
              <a:rPr lang="en-US" sz="2000" b="1" dirty="0"/>
              <a:t>interactive data analysis system</a:t>
            </a:r>
            <a:r>
              <a:rPr lang="en-US" sz="2000" dirty="0"/>
              <a:t> to study e-commerce business data.</a:t>
            </a:r>
          </a:p>
          <a:p>
            <a:pPr>
              <a:buFont typeface="Arial" panose="020B0604020202020204" pitchFamily="34" charset="0"/>
              <a:buChar char="•"/>
            </a:pPr>
            <a:r>
              <a:rPr lang="en-US" sz="2000" dirty="0"/>
              <a:t>Transform </a:t>
            </a:r>
            <a:r>
              <a:rPr lang="en-US" sz="2000" b="1" dirty="0"/>
              <a:t>raw transactional data</a:t>
            </a:r>
            <a:r>
              <a:rPr lang="en-US" sz="2000" dirty="0"/>
              <a:t> into meaningful business insights.</a:t>
            </a:r>
          </a:p>
          <a:p>
            <a:pPr>
              <a:buFont typeface="Arial" panose="020B0604020202020204" pitchFamily="34" charset="0"/>
              <a:buChar char="•"/>
            </a:pPr>
            <a:r>
              <a:rPr lang="en-US" sz="2000" dirty="0"/>
              <a:t>Analyze important metrics such as </a:t>
            </a:r>
            <a:r>
              <a:rPr lang="en-US" sz="2000" b="1" dirty="0"/>
              <a:t>sales, profit, customer segments, and regional performance</a:t>
            </a:r>
            <a:r>
              <a:rPr lang="en-US" sz="2000" dirty="0"/>
              <a:t>.</a:t>
            </a:r>
          </a:p>
          <a:p>
            <a:pPr>
              <a:buFont typeface="Arial" panose="020B0604020202020204" pitchFamily="34" charset="0"/>
              <a:buChar char="•"/>
            </a:pPr>
            <a:r>
              <a:rPr lang="en-US" sz="2000" dirty="0"/>
              <a:t>Evaluate </a:t>
            </a:r>
            <a:r>
              <a:rPr lang="en-US" sz="2000" b="1" dirty="0"/>
              <a:t>product categories, discounts, and shipping costs</a:t>
            </a:r>
            <a:r>
              <a:rPr lang="en-US" sz="2000" dirty="0"/>
              <a:t> to understand business performance.</a:t>
            </a:r>
          </a:p>
          <a:p>
            <a:pPr>
              <a:buFont typeface="Arial" panose="020B0604020202020204" pitchFamily="34" charset="0"/>
              <a:buChar char="•"/>
            </a:pPr>
            <a:r>
              <a:rPr lang="en-US" sz="2000" dirty="0"/>
              <a:t>Organize and present data through </a:t>
            </a:r>
            <a:r>
              <a:rPr lang="en-US" sz="2000" b="1" dirty="0"/>
              <a:t>structured analysis and visualization</a:t>
            </a:r>
            <a:r>
              <a:rPr lang="en-US" sz="2000" dirty="0"/>
              <a:t>.</a:t>
            </a:r>
          </a:p>
          <a:p>
            <a:pPr>
              <a:buFont typeface="Arial" panose="020B0604020202020204" pitchFamily="34" charset="0"/>
              <a:buChar char="•"/>
            </a:pPr>
            <a:r>
              <a:rPr lang="en-US" sz="2000" dirty="0"/>
              <a:t>Help stakeholders </a:t>
            </a:r>
            <a:r>
              <a:rPr lang="en-US" sz="2000" b="1" dirty="0"/>
              <a:t>identify trends, profitable products, and customer behavior patterns</a:t>
            </a:r>
            <a:r>
              <a:rPr lang="en-US" sz="2000" dirty="0"/>
              <a:t>.</a:t>
            </a:r>
          </a:p>
          <a:p>
            <a:pPr>
              <a:buFont typeface="Arial" panose="020B0604020202020204" pitchFamily="34" charset="0"/>
              <a:buChar char="•"/>
            </a:pPr>
            <a:r>
              <a:rPr lang="en-US" sz="2000" dirty="0"/>
              <a:t>Support </a:t>
            </a:r>
            <a:r>
              <a:rPr lang="en-US" sz="2000" b="1" dirty="0"/>
              <a:t>data-driven decision making</a:t>
            </a:r>
            <a:r>
              <a:rPr lang="en-US" sz="2000" dirty="0"/>
              <a:t> for business improvement.</a:t>
            </a:r>
          </a:p>
          <a:p>
            <a:pPr marL="305435" indent="-305435">
              <a:spcBef>
                <a:spcPct val="20000"/>
              </a:spcBef>
              <a:spcAft>
                <a:spcPts val="600"/>
              </a:spcAft>
              <a:buFont typeface="Arial" panose="020B0604020202020204"/>
              <a:buChar char="•"/>
            </a:pPr>
            <a:endParaRPr lang="en-GB"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panose="020B0604020202020204"/>
                <a:cs typeface="Arial" panose="020B0604020202020204"/>
              </a:rPr>
              <a:t>System  Approach:</a:t>
            </a:r>
            <a:endParaRPr lang="en-US" sz="4000" dirty="0"/>
          </a:p>
        </p:txBody>
      </p:sp>
      <p:sp>
        <p:nvSpPr>
          <p:cNvPr id="3" name="Content Placeholder 2"/>
          <p:cNvSpPr>
            <a:spLocks noGrp="1"/>
          </p:cNvSpPr>
          <p:nvPr>
            <p:ph idx="1"/>
          </p:nvPr>
        </p:nvSpPr>
        <p:spPr>
          <a:xfrm>
            <a:off x="317409" y="1549831"/>
            <a:ext cx="10515600" cy="4608641"/>
          </a:xfrm>
        </p:spPr>
        <p:txBody>
          <a:bodyPr vert="horz" lIns="91440" tIns="45720" rIns="91440" bIns="45720" rtlCol="0">
            <a:normAutofit/>
          </a:bodyPr>
          <a:lstStyle/>
          <a:p>
            <a:pPr>
              <a:buNone/>
            </a:pPr>
            <a:r>
              <a:rPr lang="en-US" sz="2000" dirty="0"/>
              <a:t>    The system is developed using data visualization and business intelligence techniques to analyze e-commerce customer behavior and sales performance. The process involves collecting the dataset, preparing and cleaning the data, and creating interactive visualizations to extract meaningful insights. Various chart types are used to analyze different aspects such as sales trends, customer segments, product performance, and regional distribution. Interactive filters and slicers are implemented to allow users to dynamically explore the data and gain deeper insights.</a:t>
            </a:r>
          </a:p>
          <a:p>
            <a:pPr>
              <a:buNone/>
            </a:pPr>
            <a:r>
              <a:rPr lang="en-US" sz="2000" b="1" dirty="0"/>
              <a:t>Technologies Used</a:t>
            </a:r>
          </a:p>
          <a:p>
            <a:pPr>
              <a:buFont typeface="Arial" panose="020B0604020202020204" pitchFamily="34" charset="0"/>
              <a:buChar char="•"/>
            </a:pPr>
            <a:r>
              <a:rPr lang="en-US" sz="2000" b="1" dirty="0"/>
              <a:t>Microsoft Power BI</a:t>
            </a:r>
            <a:r>
              <a:rPr lang="en-US" sz="2000" dirty="0"/>
              <a:t> – For data visualization and dashboard development</a:t>
            </a:r>
          </a:p>
          <a:p>
            <a:pPr>
              <a:buFont typeface="Arial" panose="020B0604020202020204" pitchFamily="34" charset="0"/>
              <a:buChar char="•"/>
            </a:pPr>
            <a:r>
              <a:rPr lang="en-US" sz="2000" b="1" dirty="0"/>
              <a:t>E-commerce Dataset</a:t>
            </a:r>
            <a:r>
              <a:rPr lang="en-US" sz="2000" dirty="0"/>
              <a:t> – For analyzing sales, profit, and customer behavior</a:t>
            </a:r>
          </a:p>
          <a:p>
            <a:pPr>
              <a:buFont typeface="Arial" panose="020B0604020202020204" pitchFamily="34" charset="0"/>
              <a:buChar char="•"/>
            </a:pPr>
            <a:r>
              <a:rPr lang="en-US" sz="2000" b="1" dirty="0"/>
              <a:t>Data Modeling</a:t>
            </a:r>
            <a:r>
              <a:rPr lang="en-US" sz="2000" dirty="0"/>
              <a:t> – To organize and relate different data fields</a:t>
            </a:r>
          </a:p>
          <a:p>
            <a:pPr>
              <a:buFont typeface="Arial" panose="020B0604020202020204" pitchFamily="34" charset="0"/>
              <a:buChar char="•"/>
            </a:pPr>
            <a:r>
              <a:rPr lang="en-US" sz="2000" b="1" dirty="0"/>
              <a:t>Interactive Visualizations</a:t>
            </a:r>
            <a:r>
              <a:rPr lang="en-US" sz="2000" dirty="0"/>
              <a:t> – Bar charts, line charts, donut charts, scatter plots, and maps</a:t>
            </a:r>
          </a:p>
          <a:p>
            <a:pPr>
              <a:buFont typeface="Arial" panose="020B0604020202020204" pitchFamily="34" charset="0"/>
              <a:buChar char="•"/>
            </a:pPr>
            <a:r>
              <a:rPr lang="en-US" sz="2000" b="1" dirty="0"/>
              <a:t>Slicers and Filters</a:t>
            </a:r>
            <a:r>
              <a:rPr lang="en-US" sz="2000" dirty="0"/>
              <a:t> – To enable dynamic data exploration</a:t>
            </a:r>
          </a:p>
          <a:p>
            <a:pPr marL="0" indent="0">
              <a:spcBef>
                <a:spcPct val="20000"/>
              </a:spcBef>
              <a:spcAft>
                <a:spcPts val="600"/>
              </a:spcAft>
              <a:buNone/>
            </a:pPr>
            <a:endParaRPr lang="en-GB"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Algorithm &amp; Deployment:</a:t>
            </a:r>
            <a:endParaRPr lang="en-US" sz="4000" dirty="0"/>
          </a:p>
        </p:txBody>
      </p:sp>
      <p:sp>
        <p:nvSpPr>
          <p:cNvPr id="3" name="Content Placeholder 2"/>
          <p:cNvSpPr>
            <a:spLocks noGrp="1"/>
          </p:cNvSpPr>
          <p:nvPr>
            <p:ph idx="1"/>
          </p:nvPr>
        </p:nvSpPr>
        <p:spPr>
          <a:xfrm>
            <a:off x="266700" y="1572196"/>
            <a:ext cx="10515600" cy="4251960"/>
          </a:xfrm>
        </p:spPr>
        <p:txBody>
          <a:bodyPr vert="horz" lIns="91440" tIns="45720" rIns="91440" bIns="45720" rtlCol="0">
            <a:normAutofit fontScale="92500" lnSpcReduction="20000"/>
          </a:bodyPr>
          <a:lstStyle/>
          <a:p>
            <a:pPr>
              <a:buNone/>
            </a:pPr>
            <a:r>
              <a:rPr lang="en-US" sz="2200" b="1" dirty="0"/>
              <a:t>Algorithm Selection</a:t>
            </a:r>
            <a:endParaRPr lang="en-US" sz="2200" dirty="0"/>
          </a:p>
          <a:p>
            <a:pPr>
              <a:buFont typeface="Arial" panose="020B0604020202020204" pitchFamily="34" charset="0"/>
              <a:buChar char="•"/>
            </a:pPr>
            <a:r>
              <a:rPr lang="en-US" sz="2200" dirty="0"/>
              <a:t>BI &amp; Data Visualization</a:t>
            </a:r>
          </a:p>
          <a:p>
            <a:pPr>
              <a:buFont typeface="Arial" panose="020B0604020202020204" pitchFamily="34" charset="0"/>
              <a:buChar char="•"/>
            </a:pPr>
            <a:r>
              <a:rPr lang="en-US" sz="2200" dirty="0"/>
              <a:t>Aggregation and filtering</a:t>
            </a:r>
          </a:p>
          <a:p>
            <a:pPr>
              <a:buNone/>
            </a:pPr>
            <a:r>
              <a:rPr lang="en-US" sz="2200" b="1" dirty="0"/>
              <a:t>Data Input</a:t>
            </a:r>
            <a:endParaRPr lang="en-US" sz="2200" dirty="0"/>
          </a:p>
          <a:p>
            <a:pPr>
              <a:buFont typeface="Arial" panose="020B0604020202020204" pitchFamily="34" charset="0"/>
              <a:buChar char="•"/>
            </a:pPr>
            <a:r>
              <a:rPr lang="en-US" sz="2200" dirty="0"/>
              <a:t>E-commerce transaction data</a:t>
            </a:r>
          </a:p>
          <a:p>
            <a:pPr>
              <a:buFont typeface="Arial" panose="020B0604020202020204" pitchFamily="34" charset="0"/>
              <a:buChar char="•"/>
            </a:pPr>
            <a:r>
              <a:rPr lang="en-US" sz="2200" dirty="0"/>
              <a:t>Sales, Profit, Discount, Shipping</a:t>
            </a:r>
          </a:p>
          <a:p>
            <a:pPr>
              <a:buNone/>
            </a:pPr>
            <a:r>
              <a:rPr lang="en-US" sz="2200" b="1" dirty="0"/>
              <a:t>Data Processing</a:t>
            </a:r>
            <a:endParaRPr lang="en-US" sz="2200" dirty="0"/>
          </a:p>
          <a:p>
            <a:pPr>
              <a:buFont typeface="Arial" panose="020B0604020202020204" pitchFamily="34" charset="0"/>
              <a:buChar char="•"/>
            </a:pPr>
            <a:r>
              <a:rPr lang="en-US" sz="2200" dirty="0"/>
              <a:t>Data cleaning</a:t>
            </a:r>
          </a:p>
          <a:p>
            <a:pPr>
              <a:buFont typeface="Arial" panose="020B0604020202020204" pitchFamily="34" charset="0"/>
              <a:buChar char="•"/>
            </a:pPr>
            <a:r>
              <a:rPr lang="en-US" sz="2200" dirty="0"/>
              <a:t>Data transformation</a:t>
            </a:r>
          </a:p>
          <a:p>
            <a:pPr>
              <a:buNone/>
            </a:pPr>
            <a:r>
              <a:rPr lang="en-US" sz="2200" b="1" dirty="0"/>
              <a:t>Analysis</a:t>
            </a:r>
            <a:endParaRPr lang="en-US" sz="2200" dirty="0"/>
          </a:p>
          <a:p>
            <a:pPr>
              <a:buFont typeface="Arial" panose="020B0604020202020204" pitchFamily="34" charset="0"/>
              <a:buChar char="•"/>
            </a:pPr>
            <a:r>
              <a:rPr lang="en-US" sz="2200" dirty="0"/>
              <a:t>Sales &amp; profit trends</a:t>
            </a:r>
          </a:p>
          <a:p>
            <a:pPr>
              <a:buFont typeface="Arial" panose="020B0604020202020204" pitchFamily="34" charset="0"/>
              <a:buChar char="•"/>
            </a:pPr>
            <a:r>
              <a:rPr lang="en-US" sz="2200" dirty="0"/>
              <a:t>Customer behavior insights</a:t>
            </a:r>
          </a:p>
          <a:p>
            <a:pPr marL="305435" indent="-305435">
              <a:spcBef>
                <a:spcPct val="20000"/>
              </a:spcBef>
              <a:spcAft>
                <a:spcPts val="600"/>
              </a:spcAft>
              <a:buFont typeface="Arial" panose="020B0604020202020204"/>
              <a:buChar char="•"/>
            </a:pPr>
            <a:endParaRPr lang="en-GB"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Result:</a:t>
            </a:r>
            <a:endParaRPr lang="en-US" sz="4000" dirty="0"/>
          </a:p>
        </p:txBody>
      </p:sp>
      <p:sp>
        <p:nvSpPr>
          <p:cNvPr id="3" name="Content Placeholder 2"/>
          <p:cNvSpPr>
            <a:spLocks noGrp="1"/>
          </p:cNvSpPr>
          <p:nvPr>
            <p:ph idx="1"/>
          </p:nvPr>
        </p:nvSpPr>
        <p:spPr>
          <a:xfrm>
            <a:off x="338137" y="1584103"/>
            <a:ext cx="10515600" cy="4251960"/>
          </a:xfrm>
        </p:spPr>
        <p:txBody>
          <a:bodyPr vert="horz" lIns="91440" tIns="45720" rIns="91440" bIns="45720" rtlCol="0">
            <a:normAutofit/>
          </a:bodyPr>
          <a:lstStyle/>
          <a:p>
            <a:r>
              <a:rPr lang="en-US" sz="2000" dirty="0"/>
              <a:t>Developed an </a:t>
            </a:r>
            <a:r>
              <a:rPr lang="en-US" sz="2000" b="1" dirty="0"/>
              <a:t>interactive Power BI dashboard </a:t>
            </a:r>
            <a:r>
              <a:rPr lang="en-US" sz="2000" dirty="0"/>
              <a:t>for e-commerce analysis.</a:t>
            </a:r>
          </a:p>
          <a:p>
            <a:r>
              <a:rPr lang="en-US" sz="2000" dirty="0"/>
              <a:t>Visualized </a:t>
            </a:r>
            <a:r>
              <a:rPr lang="en-US" sz="2000" b="1" dirty="0"/>
              <a:t>sales, profit, shipping cost, and order trends.</a:t>
            </a:r>
          </a:p>
          <a:p>
            <a:r>
              <a:rPr lang="en-US" sz="2000" dirty="0"/>
              <a:t>Analyzed </a:t>
            </a:r>
            <a:r>
              <a:rPr lang="en-US" sz="2000" b="1" dirty="0"/>
              <a:t>customer segments and regional sales distribution</a:t>
            </a:r>
            <a:r>
              <a:rPr lang="en-US" sz="2000" dirty="0"/>
              <a:t>.</a:t>
            </a:r>
          </a:p>
          <a:p>
            <a:r>
              <a:rPr lang="en-US" sz="2000" dirty="0"/>
              <a:t>Identified </a:t>
            </a:r>
            <a:r>
              <a:rPr lang="en-US" sz="2000" b="1" dirty="0"/>
              <a:t>top-performing products and profitable categories.</a:t>
            </a:r>
          </a:p>
          <a:p>
            <a:r>
              <a:rPr lang="en-US" sz="2000" dirty="0"/>
              <a:t>Evaluated </a:t>
            </a:r>
            <a:r>
              <a:rPr lang="en-US" sz="2000" b="1" dirty="0"/>
              <a:t>impact of discounts on profit and shipping cost trends.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0E48F-8952-723E-7FEB-163DC60F51BA}"/>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7591C813-40FC-FFAA-3454-399E3EC68736}"/>
              </a:ext>
            </a:extLst>
          </p:cNvPr>
          <p:cNvPicPr>
            <a:picLocks noGrp="1" noChangeAspect="1"/>
          </p:cNvPicPr>
          <p:nvPr>
            <p:ph idx="1"/>
          </p:nvPr>
        </p:nvPicPr>
        <p:blipFill>
          <a:blip r:embed="rId2"/>
          <a:stretch>
            <a:fillRect/>
          </a:stretch>
        </p:blipFill>
        <p:spPr/>
      </p:pic>
      <p:sp>
        <p:nvSpPr>
          <p:cNvPr id="6" name="TextBox 5">
            <a:extLst>
              <a:ext uri="{FF2B5EF4-FFF2-40B4-BE49-F238E27FC236}">
                <a16:creationId xmlns:a16="http://schemas.microsoft.com/office/drawing/2014/main" id="{88ECC184-AC87-C000-2D88-3A052FCD429A}"/>
              </a:ext>
            </a:extLst>
          </p:cNvPr>
          <p:cNvSpPr txBox="1"/>
          <p:nvPr/>
        </p:nvSpPr>
        <p:spPr>
          <a:xfrm>
            <a:off x="0" y="1021976"/>
            <a:ext cx="11994776" cy="5244353"/>
          </a:xfrm>
          <a:prstGeom prst="rect">
            <a:avLst/>
          </a:prstGeom>
          <a:noFill/>
        </p:spPr>
        <p:txBody>
          <a:bodyPr wrap="square" rtlCol="0">
            <a:spAutoFit/>
          </a:bodyPr>
          <a:lstStyle/>
          <a:p>
            <a:endParaRPr lang="en-US" dirty="0"/>
          </a:p>
        </p:txBody>
      </p:sp>
      <p:pic>
        <p:nvPicPr>
          <p:cNvPr id="8" name="Picture 7">
            <a:extLst>
              <a:ext uri="{FF2B5EF4-FFF2-40B4-BE49-F238E27FC236}">
                <a16:creationId xmlns:a16="http://schemas.microsoft.com/office/drawing/2014/main" id="{5928FC3F-8AB9-1F99-A826-FBE78BD4CA1A}"/>
              </a:ext>
            </a:extLst>
          </p:cNvPr>
          <p:cNvPicPr>
            <a:picLocks noChangeAspect="1"/>
          </p:cNvPicPr>
          <p:nvPr/>
        </p:nvPicPr>
        <p:blipFill>
          <a:blip r:embed="rId2"/>
          <a:stretch>
            <a:fillRect/>
          </a:stretch>
        </p:blipFill>
        <p:spPr>
          <a:xfrm>
            <a:off x="341542" y="1323680"/>
            <a:ext cx="5898777" cy="4162719"/>
          </a:xfrm>
          <a:prstGeom prst="rect">
            <a:avLst/>
          </a:prstGeom>
        </p:spPr>
      </p:pic>
      <p:pic>
        <p:nvPicPr>
          <p:cNvPr id="10" name="Picture 9">
            <a:extLst>
              <a:ext uri="{FF2B5EF4-FFF2-40B4-BE49-F238E27FC236}">
                <a16:creationId xmlns:a16="http://schemas.microsoft.com/office/drawing/2014/main" id="{D11EFEE2-CEEA-76AE-40D7-B5952A5C7ECF}"/>
              </a:ext>
            </a:extLst>
          </p:cNvPr>
          <p:cNvPicPr>
            <a:picLocks noChangeAspect="1"/>
          </p:cNvPicPr>
          <p:nvPr/>
        </p:nvPicPr>
        <p:blipFill>
          <a:blip r:embed="rId3"/>
          <a:stretch>
            <a:fillRect/>
          </a:stretch>
        </p:blipFill>
        <p:spPr>
          <a:xfrm>
            <a:off x="6240319" y="1275761"/>
            <a:ext cx="5305401" cy="4210638"/>
          </a:xfrm>
          <a:prstGeom prst="rect">
            <a:avLst/>
          </a:prstGeom>
        </p:spPr>
      </p:pic>
    </p:spTree>
    <p:extLst>
      <p:ext uri="{BB962C8B-B14F-4D97-AF65-F5344CB8AC3E}">
        <p14:creationId xmlns:p14="http://schemas.microsoft.com/office/powerpoint/2010/main" val="3534554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dirty="0">
                <a:latin typeface="Arial" panose="020B0604020202020204"/>
                <a:cs typeface="Arial" panose="020B0604020202020204"/>
              </a:rPr>
              <a:t>Conclusion:</a:t>
            </a:r>
            <a:endParaRPr lang="en-US" sz="4000" dirty="0"/>
          </a:p>
        </p:txBody>
      </p:sp>
      <p:sp>
        <p:nvSpPr>
          <p:cNvPr id="3" name="Content Placeholder 2"/>
          <p:cNvSpPr>
            <a:spLocks noGrp="1"/>
          </p:cNvSpPr>
          <p:nvPr>
            <p:ph idx="1"/>
          </p:nvPr>
        </p:nvSpPr>
        <p:spPr>
          <a:xfrm>
            <a:off x="262589" y="1622391"/>
            <a:ext cx="10515600" cy="4251960"/>
          </a:xfrm>
        </p:spPr>
        <p:txBody>
          <a:bodyPr vert="horz" lIns="91440" tIns="45720" rIns="91440" bIns="45720" rtlCol="0">
            <a:normAutofit/>
          </a:bodyPr>
          <a:lstStyle/>
          <a:p>
            <a:r>
              <a:rPr lang="en-US" sz="2000" dirty="0"/>
              <a:t>Learned data visualization and dashboard creation using </a:t>
            </a:r>
            <a:r>
              <a:rPr lang="en-US" sz="2000" b="1" dirty="0"/>
              <a:t>Microsoft Power BI</a:t>
            </a:r>
            <a:r>
              <a:rPr lang="en-US" sz="2000" dirty="0"/>
              <a:t>.</a:t>
            </a:r>
          </a:p>
          <a:p>
            <a:r>
              <a:rPr lang="en-US" sz="2000" dirty="0"/>
              <a:t>Applied data cleaning, modeling, and visualization techniques.</a:t>
            </a:r>
          </a:p>
          <a:p>
            <a:r>
              <a:rPr lang="en-US" sz="2000" dirty="0"/>
              <a:t>Built an interactive dashboard to analyze global income inequality.</a:t>
            </a:r>
          </a:p>
          <a:p>
            <a:r>
              <a:rPr lang="en-US" sz="2000" dirty="0"/>
              <a:t>Internship enhanced practical skills in data analysis and business intelligence.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Future scope:</a:t>
            </a:r>
            <a:endParaRPr lang="en-US" sz="4000" dirty="0"/>
          </a:p>
        </p:txBody>
      </p:sp>
      <p:sp>
        <p:nvSpPr>
          <p:cNvPr id="3" name="Content Placeholder 2"/>
          <p:cNvSpPr>
            <a:spLocks noGrp="1"/>
          </p:cNvSpPr>
          <p:nvPr>
            <p:ph idx="1"/>
          </p:nvPr>
        </p:nvSpPr>
        <p:spPr>
          <a:xfrm>
            <a:off x="268071" y="1304434"/>
            <a:ext cx="10515600" cy="4251960"/>
          </a:xfrm>
        </p:spPr>
        <p:txBody>
          <a:bodyPr vert="horz" lIns="91440" tIns="45720" rIns="91440" bIns="45720" rtlCol="0">
            <a:normAutofit/>
          </a:bodyPr>
          <a:lstStyle/>
          <a:p>
            <a:pPr>
              <a:spcBef>
                <a:spcPct val="20000"/>
              </a:spcBef>
              <a:spcAft>
                <a:spcPts val="600"/>
              </a:spcAft>
            </a:pPr>
            <a:r>
              <a:rPr lang="en-GB" sz="2000" dirty="0"/>
              <a:t>Integrate real-time economic datasets for updated insights.</a:t>
            </a:r>
          </a:p>
          <a:p>
            <a:pPr>
              <a:spcBef>
                <a:spcPct val="20000"/>
              </a:spcBef>
              <a:spcAft>
                <a:spcPts val="600"/>
              </a:spcAft>
            </a:pPr>
            <a:r>
              <a:rPr lang="en-GB" sz="2000" dirty="0"/>
              <a:t>Expand the dashboard to include more countries and indicators.</a:t>
            </a:r>
          </a:p>
          <a:p>
            <a:pPr>
              <a:spcBef>
                <a:spcPct val="20000"/>
              </a:spcBef>
              <a:spcAft>
                <a:spcPts val="600"/>
              </a:spcAft>
            </a:pPr>
            <a:r>
              <a:rPr lang="en-GB" sz="2000" dirty="0"/>
              <a:t>Apply advanced analytics and predictive models.</a:t>
            </a:r>
          </a:p>
          <a:p>
            <a:pPr>
              <a:spcBef>
                <a:spcPct val="20000"/>
              </a:spcBef>
              <a:spcAft>
                <a:spcPts val="600"/>
              </a:spcAft>
            </a:pPr>
            <a:r>
              <a:rPr lang="en-GB" sz="2000" dirty="0"/>
              <a:t>Deploy dashboards for organizational decision making.</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References:</a:t>
            </a:r>
            <a:endParaRPr lang="en-US" sz="4000"/>
          </a:p>
        </p:txBody>
      </p:sp>
      <p:sp>
        <p:nvSpPr>
          <p:cNvPr id="3" name="Content Placeholder 2"/>
          <p:cNvSpPr>
            <a:spLocks noGrp="1"/>
          </p:cNvSpPr>
          <p:nvPr>
            <p:ph idx="1"/>
          </p:nvPr>
        </p:nvSpPr>
        <p:spPr>
          <a:xfrm>
            <a:off x="196804" y="1551125"/>
            <a:ext cx="10515600" cy="4251960"/>
          </a:xfrm>
        </p:spPr>
        <p:txBody>
          <a:bodyPr vert="horz" lIns="91440" tIns="45720" rIns="91440" bIns="45720" rtlCol="0" anchor="t">
            <a:normAutofit/>
          </a:bodyPr>
          <a:lstStyle/>
          <a:p>
            <a:r>
              <a:rPr lang="en-IN" sz="2200" dirty="0">
                <a:latin typeface="Franklin Gothic Book" panose="020B0503020102020204"/>
              </a:rPr>
              <a:t>Official documentation and learning resources from Microsoft Power BI.</a:t>
            </a:r>
          </a:p>
          <a:p>
            <a:r>
              <a:rPr lang="en-IN" sz="2200" dirty="0">
                <a:latin typeface="Franklin Gothic Book" panose="020B0503020102020204"/>
              </a:rPr>
              <a:t>E-commerce dataset used for sales and customer behaviour analysis.</a:t>
            </a:r>
          </a:p>
          <a:p>
            <a:r>
              <a:rPr lang="en-IN" sz="2200" dirty="0">
                <a:latin typeface="Franklin Gothic Book" panose="020B0503020102020204"/>
              </a:rPr>
              <a:t>Data visualization and dashboard design concepts from Microsoft Learn.</a:t>
            </a:r>
          </a:p>
          <a:p>
            <a:r>
              <a:rPr lang="en-IN" sz="2200" dirty="0">
                <a:latin typeface="Franklin Gothic Book" panose="020B0503020102020204"/>
              </a:rPr>
              <a:t>Additional analytics resources from Kaggle datasets and community discussions.</a:t>
            </a:r>
            <a:endParaRPr lang="en-US" sz="2200" dirty="0">
              <a:latin typeface="Aptos"/>
            </a:endParaRPr>
          </a:p>
          <a:p>
            <a:pPr marL="0" indent="0">
              <a:buNone/>
            </a:pPr>
            <a:r>
              <a:rPr lang="en-IN" sz="2200" dirty="0">
                <a:latin typeface="Franklin Gothic Book" panose="020B0503020102020204"/>
              </a:rPr>
              <a:t>GitHub Link:</a:t>
            </a:r>
            <a:r>
              <a:rPr lang="en-IN" sz="2200" dirty="0">
                <a:solidFill>
                  <a:srgbClr val="0070C0"/>
                </a:solidFill>
                <a:latin typeface="Franklin Gothic Book" panose="020B0503020102020204"/>
              </a:rPr>
              <a:t> https://github.com/vineetha-20/E-Commerce-Customer-Behavior-and-Analysis-Dashboard</a:t>
            </a:r>
            <a:endParaRPr lang="en-IN" sz="2200" u="sng" dirty="0">
              <a:solidFill>
                <a:srgbClr val="0070C0"/>
              </a:solidFill>
              <a:latin typeface="Franklin Gothic Book" panose="020B0503020102020204"/>
            </a:endParaRPr>
          </a:p>
          <a:p>
            <a:pPr marL="0" indent="0">
              <a:buNone/>
            </a:pPr>
            <a:endParaRPr lang="en-IN" sz="2200" u="sng" dirty="0">
              <a:solidFill>
                <a:srgbClr val="0070C0"/>
              </a:solidFill>
              <a:latin typeface="Franklin Gothic Book" panose="020B0503020102020204"/>
            </a:endParaRPr>
          </a:p>
          <a:p>
            <a:pPr marL="0" indent="0">
              <a:buNone/>
            </a:pPr>
            <a:endParaRPr lang="en-IN" sz="2200" dirty="0">
              <a:latin typeface="Franklin Gothic Book" panose="020B05030201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sp>
        <p:nvSpPr>
          <p:cNvPr id="2" name="Title 3"/>
          <p:cNvSpPr txBox="1"/>
          <p:nvPr/>
        </p:nvSpPr>
        <p:spPr>
          <a:xfrm>
            <a:off x="3247621" y="3009471"/>
            <a:ext cx="5696757" cy="839057"/>
          </a:xfrm>
          <a:prstGeom prst="rect">
            <a:avLst/>
          </a:prstGeom>
        </p:spPr>
        <p:txBody>
          <a:bodyPr lIns="91440" tIns="45720" rIns="91440" bIns="45720" anchor="t"/>
          <a:lstStyle>
            <a:lvl1pPr algn="ctr" defTabSz="609600" rtl="0" eaLnBrk="1" latinLnBrk="0" hangingPunct="1">
              <a:spcBef>
                <a:spcPct val="0"/>
              </a:spcBef>
              <a:buNone/>
              <a:defRPr sz="2935" kern="1200">
                <a:solidFill>
                  <a:schemeClr val="tx1"/>
                </a:solidFill>
                <a:latin typeface="+mj-lt"/>
                <a:ea typeface="+mj-ea"/>
                <a:cs typeface="+mj-cs"/>
              </a:defRPr>
            </a:lvl1pPr>
          </a:lstStyle>
          <a:p>
            <a:r>
              <a:rPr lang="en-US" sz="4800" b="1">
                <a:solidFill>
                  <a:srgbClr val="002060"/>
                </a:solidFill>
                <a:latin typeface="Arial" panose="020B0604020202020204"/>
                <a:cs typeface="Arial" panose="020B0604020202020204"/>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TotalTime>
  <Words>617</Words>
  <Application>Microsoft Office PowerPoint</Application>
  <PresentationFormat>Widescreen</PresentationFormat>
  <Paragraphs>73</Paragraphs>
  <Slides>12</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12</vt:i4>
      </vt:variant>
    </vt:vector>
  </HeadingPairs>
  <TitlesOfParts>
    <vt:vector size="18" baseType="lpstr">
      <vt:lpstr>Aptos</vt:lpstr>
      <vt:lpstr>Arial</vt:lpstr>
      <vt:lpstr>Calibri</vt:lpstr>
      <vt:lpstr>Franklin Gothic Book</vt:lpstr>
      <vt:lpstr>Custom Design</vt:lpstr>
      <vt:lpstr>1_Office Theme</vt:lpstr>
      <vt:lpstr>PowerPoint Presentation</vt:lpstr>
      <vt:lpstr>OUTLINE:</vt:lpstr>
      <vt:lpstr>Problem Statement:</vt:lpstr>
      <vt:lpstr>Proposed Solution:</vt:lpstr>
      <vt:lpstr>System  Approach:</vt:lpstr>
      <vt:lpstr>Algorithm &amp; Deployment:</vt:lpstr>
      <vt:lpstr>Result:</vt:lpstr>
      <vt:lpstr>PowerPoint Presentation</vt:lpstr>
      <vt:lpstr>Conclusion: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Vineetha Ch</dc:creator>
  <cp:lastModifiedBy>Vineetha Ch</cp:lastModifiedBy>
  <cp:revision>2</cp:revision>
  <dcterms:modified xsi:type="dcterms:W3CDTF">2026-03-10T04:04:04Z</dcterms:modified>
</cp:coreProperties>
</file>